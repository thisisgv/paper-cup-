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entury Gothic Paneuropean Bold" charset="0"/>
      <p:regular r:id="rId12"/>
    </p:embeddedFont>
    <p:embeddedFont>
      <p:font typeface="Calibri" pitchFamily="34" charset="0"/>
      <p:regular r:id="rId13"/>
      <p:bold r:id="rId14"/>
      <p:italic r:id="rId15"/>
      <p:boldItalic r:id="rId16"/>
    </p:embeddedFont>
    <p:embeddedFont>
      <p:font typeface="Century Gothic Paneuropean" charset="0"/>
      <p:regular r:id="rId17"/>
    </p:embeddedFont>
    <p:embeddedFont>
      <p:font typeface="Canva Sans Bold"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622" autoAdjust="0"/>
  </p:normalViewPr>
  <p:slideViewPr>
    <p:cSldViewPr>
      <p:cViewPr varScale="1">
        <p:scale>
          <a:sx n="57" d="100"/>
          <a:sy n="57" d="100"/>
        </p:scale>
        <p:origin x="-28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0" y="2381"/>
            <a:ext cx="18288000" cy="10284619"/>
            <a:chOff x="0" y="0"/>
            <a:chExt cx="24384000" cy="13712825"/>
          </a:xfrm>
        </p:grpSpPr>
        <p:sp>
          <p:nvSpPr>
            <p:cNvPr id="17" name="Freeform 17"/>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0" name="Group 20"/>
          <p:cNvGrpSpPr/>
          <p:nvPr/>
        </p:nvGrpSpPr>
        <p:grpSpPr>
          <a:xfrm>
            <a:off x="0" y="0"/>
            <a:ext cx="18288000" cy="10287000"/>
            <a:chOff x="0" y="0"/>
            <a:chExt cx="24384000" cy="13716000"/>
          </a:xfrm>
        </p:grpSpPr>
        <p:sp>
          <p:nvSpPr>
            <p:cNvPr id="21" name="Freeform 21"/>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22" name="Group 22"/>
          <p:cNvGrpSpPr/>
          <p:nvPr/>
        </p:nvGrpSpPr>
        <p:grpSpPr>
          <a:xfrm>
            <a:off x="0" y="2381"/>
            <a:ext cx="18288000" cy="10284619"/>
            <a:chOff x="0" y="0"/>
            <a:chExt cx="24384000" cy="13712825"/>
          </a:xfrm>
        </p:grpSpPr>
        <p:sp>
          <p:nvSpPr>
            <p:cNvPr id="23" name="Freeform 23"/>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24" name="Group 24"/>
          <p:cNvGrpSpPr/>
          <p:nvPr/>
        </p:nvGrpSpPr>
        <p:grpSpPr>
          <a:xfrm>
            <a:off x="15656719" y="0"/>
            <a:ext cx="1028700" cy="1714500"/>
            <a:chOff x="0" y="0"/>
            <a:chExt cx="1371600" cy="2286000"/>
          </a:xfrm>
        </p:grpSpPr>
        <p:sp>
          <p:nvSpPr>
            <p:cNvPr id="25" name="Freeform 25"/>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6" name="Group 26"/>
          <p:cNvGrpSpPr/>
          <p:nvPr/>
        </p:nvGrpSpPr>
        <p:grpSpPr>
          <a:xfrm>
            <a:off x="1732436" y="1598333"/>
            <a:ext cx="13824271" cy="4127487"/>
            <a:chOff x="0" y="0"/>
            <a:chExt cx="18432361" cy="5503316"/>
          </a:xfrm>
        </p:grpSpPr>
        <p:sp>
          <p:nvSpPr>
            <p:cNvPr id="27" name="Freeform 27"/>
            <p:cNvSpPr/>
            <p:nvPr/>
          </p:nvSpPr>
          <p:spPr>
            <a:xfrm>
              <a:off x="0" y="0"/>
              <a:ext cx="18432356" cy="5503314"/>
            </a:xfrm>
            <a:custGeom>
              <a:avLst/>
              <a:gdLst/>
              <a:ahLst/>
              <a:cxnLst/>
              <a:rect l="l" t="t" r="r" b="b"/>
              <a:pathLst>
                <a:path w="18432356" h="5503314">
                  <a:moveTo>
                    <a:pt x="0" y="0"/>
                  </a:moveTo>
                  <a:lnTo>
                    <a:pt x="18432356" y="0"/>
                  </a:lnTo>
                  <a:lnTo>
                    <a:pt x="18432356" y="5503314"/>
                  </a:lnTo>
                  <a:lnTo>
                    <a:pt x="0" y="5503314"/>
                  </a:lnTo>
                  <a:close/>
                </a:path>
              </a:pathLst>
            </a:custGeom>
            <a:blipFill>
              <a:blip r:embed="rId7">
                <a:alphaModFix amt="0"/>
              </a:blip>
              <a:stretch>
                <a:fillRect t="-16606" b="-13916"/>
              </a:stretch>
            </a:blipFill>
          </p:spPr>
        </p:sp>
        <p:sp>
          <p:nvSpPr>
            <p:cNvPr id="28" name="TextBox 28"/>
            <p:cNvSpPr txBox="1"/>
            <p:nvPr/>
          </p:nvSpPr>
          <p:spPr>
            <a:xfrm>
              <a:off x="0" y="-9525"/>
              <a:ext cx="18432361" cy="5512841"/>
            </a:xfrm>
            <a:prstGeom prst="rect">
              <a:avLst/>
            </a:prstGeom>
          </p:spPr>
          <p:txBody>
            <a:bodyPr lIns="0" tIns="0" rIns="0" bIns="0" rtlCol="0" anchor="b"/>
            <a:lstStyle/>
            <a:p>
              <a:pPr algn="ctr">
                <a:lnSpc>
                  <a:spcPts val="9720"/>
                </a:lnSpc>
              </a:pPr>
              <a:r>
                <a:rPr lang="en-US" sz="8100" b="1" dirty="0">
                  <a:solidFill>
                    <a:srgbClr val="FFFFFF"/>
                  </a:solidFill>
                  <a:latin typeface="Century Gothic Paneuropean Bold"/>
                  <a:ea typeface="Century Gothic Paneuropean Bold"/>
                  <a:cs typeface="Century Gothic Paneuropean Bold"/>
                  <a:sym typeface="Century Gothic Paneuropean Bold"/>
                </a:rPr>
                <a:t> </a:t>
              </a:r>
              <a:r>
                <a:rPr lang="en-US" sz="8100" b="1" dirty="0">
                  <a:solidFill>
                    <a:srgbClr val="FFFF00"/>
                  </a:solidFill>
                  <a:latin typeface="Century Gothic Paneuropean Bold"/>
                  <a:ea typeface="Century Gothic Paneuropean Bold"/>
                  <a:cs typeface="Century Gothic Paneuropean Bold"/>
                  <a:sym typeface="Century Gothic Paneuropean Bold"/>
                </a:rPr>
                <a:t>AUTOMATED PAPER CUPS SHREDDER SYSTEM</a:t>
              </a:r>
            </a:p>
            <a:p>
              <a:pPr algn="l">
                <a:lnSpc>
                  <a:spcPts val="9720"/>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3458" y="12697"/>
            <a:ext cx="18288000" cy="10284619"/>
            <a:chOff x="0" y="0"/>
            <a:chExt cx="24384000" cy="13712825"/>
          </a:xfrm>
        </p:grpSpPr>
        <p:sp>
          <p:nvSpPr>
            <p:cNvPr id="17" name="Freeform 17"/>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0" name="Group 20"/>
          <p:cNvGrpSpPr/>
          <p:nvPr/>
        </p:nvGrpSpPr>
        <p:grpSpPr>
          <a:xfrm>
            <a:off x="1732436" y="1460506"/>
            <a:ext cx="13142119" cy="1113358"/>
            <a:chOff x="0" y="0"/>
            <a:chExt cx="17522825" cy="1484478"/>
          </a:xfrm>
        </p:grpSpPr>
        <p:sp>
          <p:nvSpPr>
            <p:cNvPr id="21" name="Freeform 21"/>
            <p:cNvSpPr/>
            <p:nvPr/>
          </p:nvSpPr>
          <p:spPr>
            <a:xfrm>
              <a:off x="0" y="0"/>
              <a:ext cx="17522827" cy="1484477"/>
            </a:xfrm>
            <a:custGeom>
              <a:avLst/>
              <a:gdLst/>
              <a:ahLst/>
              <a:cxnLst/>
              <a:rect l="l" t="t" r="r" b="b"/>
              <a:pathLst>
                <a:path w="17522827" h="1484477">
                  <a:moveTo>
                    <a:pt x="0" y="0"/>
                  </a:moveTo>
                  <a:lnTo>
                    <a:pt x="17522827" y="0"/>
                  </a:lnTo>
                  <a:lnTo>
                    <a:pt x="17522827" y="1484477"/>
                  </a:lnTo>
                  <a:lnTo>
                    <a:pt x="0" y="1484477"/>
                  </a:lnTo>
                  <a:close/>
                </a:path>
              </a:pathLst>
            </a:custGeom>
            <a:blipFill>
              <a:blip r:embed="rId7">
                <a:alphaModFix amt="0"/>
              </a:blip>
              <a:stretch>
                <a:fillRect t="-182378" b="-177626"/>
              </a:stretch>
            </a:blipFill>
          </p:spPr>
        </p:sp>
        <p:sp>
          <p:nvSpPr>
            <p:cNvPr id="22" name="TextBox 22"/>
            <p:cNvSpPr txBox="1"/>
            <p:nvPr/>
          </p:nvSpPr>
          <p:spPr>
            <a:xfrm>
              <a:off x="0" y="0"/>
              <a:ext cx="17522825" cy="1484478"/>
            </a:xfrm>
            <a:prstGeom prst="rect">
              <a:avLst/>
            </a:prstGeom>
          </p:spPr>
          <p:txBody>
            <a:bodyPr lIns="0" tIns="0" rIns="0" bIns="0" rtlCol="0" anchor="ctr"/>
            <a:lstStyle/>
            <a:p>
              <a:pPr algn="l">
                <a:lnSpc>
                  <a:spcPts val="6480"/>
                </a:lnSpc>
              </a:pPr>
              <a:r>
                <a:rPr lang="en-US" sz="5400" dirty="0">
                  <a:solidFill>
                    <a:srgbClr val="FFFF00"/>
                  </a:solidFill>
                  <a:latin typeface="Century Gothic Paneuropean"/>
                  <a:ea typeface="Century Gothic Paneuropean"/>
                  <a:cs typeface="Century Gothic Paneuropean"/>
                  <a:sym typeface="Century Gothic Paneuropean"/>
                </a:rPr>
                <a:t>PROBLEM STATEMENT </a:t>
              </a:r>
            </a:p>
          </p:txBody>
        </p:sp>
      </p:grpSp>
      <p:sp>
        <p:nvSpPr>
          <p:cNvPr id="23" name="Freeform 23"/>
          <p:cNvSpPr/>
          <p:nvPr/>
        </p:nvSpPr>
        <p:spPr>
          <a:xfrm>
            <a:off x="14501850" y="4214806"/>
            <a:ext cx="3786150" cy="4223258"/>
          </a:xfrm>
          <a:custGeom>
            <a:avLst/>
            <a:gdLst/>
            <a:ahLst/>
            <a:cxnLst/>
            <a:rect l="l" t="t" r="r" b="b"/>
            <a:pathLst>
              <a:path w="4147915" h="4223258">
                <a:moveTo>
                  <a:pt x="0" y="0"/>
                </a:moveTo>
                <a:lnTo>
                  <a:pt x="4147915" y="0"/>
                </a:lnTo>
                <a:lnTo>
                  <a:pt x="4147915" y="4223258"/>
                </a:lnTo>
                <a:lnTo>
                  <a:pt x="0" y="4223258"/>
                </a:lnTo>
                <a:lnTo>
                  <a:pt x="0" y="0"/>
                </a:lnTo>
                <a:close/>
              </a:path>
            </a:pathLst>
          </a:custGeom>
          <a:blipFill>
            <a:blip r:embed="rId8"/>
            <a:stretch>
              <a:fillRect t="-41584" b="-8938"/>
            </a:stretch>
          </a:blipFill>
        </p:spPr>
      </p:sp>
      <p:sp>
        <p:nvSpPr>
          <p:cNvPr id="24" name="TextBox 24"/>
          <p:cNvSpPr txBox="1"/>
          <p:nvPr/>
        </p:nvSpPr>
        <p:spPr>
          <a:xfrm>
            <a:off x="1028700" y="3286112"/>
            <a:ext cx="13401712" cy="7196842"/>
          </a:xfrm>
          <a:prstGeom prst="rect">
            <a:avLst/>
          </a:prstGeom>
        </p:spPr>
        <p:txBody>
          <a:bodyPr wrap="square" lIns="0" tIns="0" rIns="0" bIns="0" rtlCol="0" anchor="t">
            <a:spAutoFit/>
          </a:bodyPr>
          <a:lstStyle/>
          <a:p>
            <a:pPr marL="352364" lvl="1" indent="-176182" algn="just">
              <a:lnSpc>
                <a:spcPct val="150000"/>
              </a:lnSpc>
              <a:buFont typeface="Wingdings" pitchFamily="2" charset="2"/>
              <a:buChar char="Ø"/>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The widespread use of paper cups in restaurants, offices, and public events has led to a significant increase in solid waste. Although paper cups are often marketed as eco-friendly, many are lined with plastic coatings, making them difficult to recycle through conventional methods. As a result, they contribute heavily to landfill accumulation and environmental pollution.</a:t>
            </a:r>
          </a:p>
          <a:p>
            <a:pPr marL="352364" lvl="1" indent="-176182" algn="just">
              <a:lnSpc>
                <a:spcPct val="150000"/>
              </a:lnSpc>
              <a:buFont typeface="Wingdings" pitchFamily="2" charset="2"/>
              <a:buChar char="Ø"/>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Manual disposal and shredding of cups is inefficient, labor-intensive, and unsafe. Current waste management systems lack a dedicated mechanism to handle paper cups specifically, leading to:</a:t>
            </a:r>
          </a:p>
          <a:p>
            <a:pPr marL="352364" lvl="1" indent="-176182" algn="just">
              <a:lnSpc>
                <a:spcPct val="150000"/>
              </a:lnSpc>
              <a:buFont typeface="Wingdings" pitchFamily="2" charset="2"/>
              <a:buChar char="Ø"/>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High volume of waste due to their bulky shape.</a:t>
            </a:r>
          </a:p>
          <a:p>
            <a:pPr marL="352364" lvl="1" indent="-176182" algn="just">
              <a:lnSpc>
                <a:spcPct val="150000"/>
              </a:lnSpc>
              <a:buFont typeface="Wingdings" pitchFamily="2" charset="2"/>
              <a:buChar char="Ø"/>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Increased transportation costs for disposal.</a:t>
            </a:r>
          </a:p>
          <a:p>
            <a:pPr marL="352364" lvl="1" indent="-176182" algn="just">
              <a:lnSpc>
                <a:spcPct val="150000"/>
              </a:lnSpc>
              <a:buFont typeface="Wingdings" pitchFamily="2" charset="2"/>
              <a:buChar char="Ø"/>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Reduced recycling efficiency because unprocessed cups cannot be easily separated into usable materials.</a:t>
            </a:r>
          </a:p>
          <a:p>
            <a:pPr marL="352364" lvl="1" indent="-176182" algn="just">
              <a:lnSpc>
                <a:spcPct val="150000"/>
              </a:lnSpc>
              <a:buFont typeface="Wingdings" pitchFamily="2" charset="2"/>
              <a:buChar char="Ø"/>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Therefore, there is a pressing need for an automated shredder system that can efficiently process paper cups by reducing their size, separating recyclable components, and minimizing environmental impact. Such a system would improve waste management, reduce landfill pressure, and support sustainable recycling practices.</a:t>
            </a:r>
          </a:p>
          <a:p>
            <a:pPr marL="352364" lvl="1" indent="-176182" algn="l">
              <a:lnSpc>
                <a:spcPts val="2336"/>
              </a:lnSpc>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0" y="2381"/>
            <a:ext cx="18288000" cy="10284619"/>
            <a:chOff x="0" y="0"/>
            <a:chExt cx="24384000" cy="13712825"/>
          </a:xfrm>
        </p:grpSpPr>
        <p:sp>
          <p:nvSpPr>
            <p:cNvPr id="17" name="Freeform 17"/>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0" name="Group 20"/>
          <p:cNvGrpSpPr/>
          <p:nvPr/>
        </p:nvGrpSpPr>
        <p:grpSpPr>
          <a:xfrm>
            <a:off x="1732436" y="1460506"/>
            <a:ext cx="13142119" cy="1113358"/>
            <a:chOff x="0" y="0"/>
            <a:chExt cx="17522825" cy="1484478"/>
          </a:xfrm>
        </p:grpSpPr>
        <p:sp>
          <p:nvSpPr>
            <p:cNvPr id="21" name="Freeform 21"/>
            <p:cNvSpPr/>
            <p:nvPr/>
          </p:nvSpPr>
          <p:spPr>
            <a:xfrm>
              <a:off x="0" y="0"/>
              <a:ext cx="17522827" cy="1484477"/>
            </a:xfrm>
            <a:custGeom>
              <a:avLst/>
              <a:gdLst/>
              <a:ahLst/>
              <a:cxnLst/>
              <a:rect l="l" t="t" r="r" b="b"/>
              <a:pathLst>
                <a:path w="17522827" h="1484477">
                  <a:moveTo>
                    <a:pt x="0" y="0"/>
                  </a:moveTo>
                  <a:lnTo>
                    <a:pt x="17522827" y="0"/>
                  </a:lnTo>
                  <a:lnTo>
                    <a:pt x="17522827" y="1484477"/>
                  </a:lnTo>
                  <a:lnTo>
                    <a:pt x="0" y="1484477"/>
                  </a:lnTo>
                  <a:close/>
                </a:path>
              </a:pathLst>
            </a:custGeom>
            <a:blipFill>
              <a:blip r:embed="rId7">
                <a:alphaModFix amt="0"/>
              </a:blip>
              <a:stretch>
                <a:fillRect t="-182378" b="-177626"/>
              </a:stretch>
            </a:blipFill>
          </p:spPr>
        </p:sp>
        <p:sp>
          <p:nvSpPr>
            <p:cNvPr id="22" name="TextBox 22"/>
            <p:cNvSpPr txBox="1"/>
            <p:nvPr/>
          </p:nvSpPr>
          <p:spPr>
            <a:xfrm>
              <a:off x="0" y="0"/>
              <a:ext cx="17522825" cy="1484478"/>
            </a:xfrm>
            <a:prstGeom prst="rect">
              <a:avLst/>
            </a:prstGeom>
          </p:spPr>
          <p:txBody>
            <a:bodyPr lIns="0" tIns="0" rIns="0" bIns="0" rtlCol="0" anchor="ctr"/>
            <a:lstStyle/>
            <a:p>
              <a:pPr algn="l">
                <a:lnSpc>
                  <a:spcPts val="6480"/>
                </a:lnSpc>
              </a:pPr>
              <a:r>
                <a:rPr lang="en-US" sz="5400" dirty="0">
                  <a:solidFill>
                    <a:srgbClr val="FFFF00"/>
                  </a:solidFill>
                  <a:latin typeface="Times New Roman" pitchFamily="18" charset="0"/>
                  <a:ea typeface="Century Gothic Paneuropean"/>
                  <a:cs typeface="Times New Roman" pitchFamily="18" charset="0"/>
                  <a:sym typeface="Century Gothic Paneuropean"/>
                </a:rPr>
                <a:t>SOLUTION PROPOSED</a:t>
              </a:r>
            </a:p>
          </p:txBody>
        </p:sp>
      </p:grpSp>
      <p:sp>
        <p:nvSpPr>
          <p:cNvPr id="23" name="Freeform 23"/>
          <p:cNvSpPr/>
          <p:nvPr/>
        </p:nvSpPr>
        <p:spPr>
          <a:xfrm>
            <a:off x="10645666" y="4000500"/>
            <a:ext cx="7714870" cy="5140032"/>
          </a:xfrm>
          <a:custGeom>
            <a:avLst/>
            <a:gdLst/>
            <a:ahLst/>
            <a:cxnLst/>
            <a:rect l="l" t="t" r="r" b="b"/>
            <a:pathLst>
              <a:path w="7714870" h="5140032">
                <a:moveTo>
                  <a:pt x="0" y="0"/>
                </a:moveTo>
                <a:lnTo>
                  <a:pt x="7714869" y="0"/>
                </a:lnTo>
                <a:lnTo>
                  <a:pt x="7714869" y="5140032"/>
                </a:lnTo>
                <a:lnTo>
                  <a:pt x="0" y="5140032"/>
                </a:lnTo>
                <a:lnTo>
                  <a:pt x="0" y="0"/>
                </a:lnTo>
                <a:close/>
              </a:path>
            </a:pathLst>
          </a:custGeom>
          <a:blipFill>
            <a:blip r:embed="rId8"/>
            <a:stretch>
              <a:fillRect/>
            </a:stretch>
          </a:blipFill>
        </p:spPr>
      </p:sp>
      <p:sp>
        <p:nvSpPr>
          <p:cNvPr id="24" name="TextBox 24"/>
          <p:cNvSpPr txBox="1"/>
          <p:nvPr/>
        </p:nvSpPr>
        <p:spPr>
          <a:xfrm>
            <a:off x="689258" y="3800475"/>
            <a:ext cx="9956408" cy="4959306"/>
          </a:xfrm>
          <a:prstGeom prst="rect">
            <a:avLst/>
          </a:prstGeom>
        </p:spPr>
        <p:txBody>
          <a:bodyPr lIns="0" tIns="0" rIns="0" bIns="0" rtlCol="0" anchor="t">
            <a:spAutoFit/>
          </a:bodyPr>
          <a:lstStyle/>
          <a:p>
            <a:pPr marL="459653" lvl="1" indent="-229826" algn="l">
              <a:lnSpc>
                <a:spcPct val="150000"/>
              </a:lnSpc>
              <a:buFont typeface="Wingdings" pitchFamily="2" charset="2"/>
              <a:buChar char="Ø"/>
            </a:pPr>
            <a:r>
              <a:rPr lang="en-US" sz="2000" b="1" dirty="0">
                <a:solidFill>
                  <a:srgbClr val="404040"/>
                </a:solidFill>
                <a:latin typeface="Times New Roman" pitchFamily="18" charset="0"/>
                <a:ea typeface="Century Gothic Paneuropean Bold"/>
                <a:cs typeface="Times New Roman" pitchFamily="18" charset="0"/>
                <a:sym typeface="Century Gothic Paneuropean Bold"/>
              </a:rPr>
              <a:t>The proposed system is a Smart Automated Paper Cup Shredder with Eco Bucks Reward System designed to encourage proper disposal of paper cups.</a:t>
            </a:r>
          </a:p>
          <a:p>
            <a:pPr marL="459653" lvl="1" indent="-229826" algn="l">
              <a:lnSpc>
                <a:spcPct val="150000"/>
              </a:lnSpc>
              <a:buFont typeface="Wingdings" pitchFamily="2" charset="2"/>
              <a:buChar char="Ø"/>
            </a:pPr>
            <a:r>
              <a:rPr lang="en-US" sz="2000" b="1" dirty="0">
                <a:solidFill>
                  <a:srgbClr val="404040"/>
                </a:solidFill>
                <a:latin typeface="Times New Roman" pitchFamily="18" charset="0"/>
                <a:ea typeface="Century Gothic Paneuropean Bold"/>
                <a:cs typeface="Times New Roman" pitchFamily="18" charset="0"/>
                <a:sym typeface="Century Gothic Paneuropean Bold"/>
              </a:rPr>
              <a:t>Users scan a QR code using the mobile app before depositing a used paper cup into the machine. A camera detects and verifies the cup, and Eco Bucks reward points , that are automatically credited to the user’s app account.</a:t>
            </a:r>
          </a:p>
          <a:p>
            <a:pPr marL="459653" lvl="1" indent="-229826" algn="l">
              <a:lnSpc>
                <a:spcPct val="150000"/>
              </a:lnSpc>
              <a:buFont typeface="Wingdings" pitchFamily="2" charset="2"/>
              <a:buChar char="Ø"/>
            </a:pPr>
            <a:r>
              <a:rPr lang="en-US" sz="2000" b="1" dirty="0">
                <a:solidFill>
                  <a:srgbClr val="404040"/>
                </a:solidFill>
                <a:latin typeface="Times New Roman" pitchFamily="18" charset="0"/>
                <a:ea typeface="Century Gothic Paneuropean Bold"/>
                <a:cs typeface="Times New Roman" pitchFamily="18" charset="0"/>
                <a:sym typeface="Century Gothic Paneuropean Bold"/>
              </a:rPr>
              <a:t>The deposited cups are automatically directed to the shredder mechanism for size reduction. The shredded material is then transferred to a lower chamber for drying and safe storage.</a:t>
            </a:r>
          </a:p>
          <a:p>
            <a:pPr marL="459653" lvl="1" indent="-229826" algn="l">
              <a:lnSpc>
                <a:spcPct val="150000"/>
              </a:lnSpc>
              <a:buFont typeface="Wingdings" pitchFamily="2" charset="2"/>
              <a:buChar char="Ø"/>
            </a:pPr>
            <a:r>
              <a:rPr lang="en-US" sz="2000" b="1" dirty="0">
                <a:solidFill>
                  <a:srgbClr val="404040"/>
                </a:solidFill>
                <a:latin typeface="Times New Roman" pitchFamily="18" charset="0"/>
                <a:ea typeface="Century Gothic Paneuropean Bold"/>
                <a:cs typeface="Times New Roman" pitchFamily="18" charset="0"/>
                <a:sym typeface="Century Gothic Paneuropean Bold"/>
              </a:rPr>
              <a:t>This system reduces manual effort, ensures organized waste handling, and motivates public participation through a reward-based collection model.</a:t>
            </a:r>
          </a:p>
          <a:p>
            <a:pPr marL="459653" lvl="1" indent="-229826" algn="l">
              <a:lnSpc>
                <a:spcPts val="3047"/>
              </a:lnSpc>
            </a:pPr>
            <a:endParaRPr>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0" y="2381"/>
            <a:ext cx="18288000" cy="10284619"/>
            <a:chOff x="0" y="0"/>
            <a:chExt cx="24384000" cy="13712825"/>
          </a:xfrm>
        </p:grpSpPr>
        <p:sp>
          <p:nvSpPr>
            <p:cNvPr id="17" name="Freeform 17"/>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0" name="Group 20"/>
          <p:cNvGrpSpPr/>
          <p:nvPr/>
        </p:nvGrpSpPr>
        <p:grpSpPr>
          <a:xfrm>
            <a:off x="2489154" y="1316274"/>
            <a:ext cx="10459512" cy="1113358"/>
            <a:chOff x="0" y="0"/>
            <a:chExt cx="17522825" cy="1865209"/>
          </a:xfrm>
        </p:grpSpPr>
        <p:sp>
          <p:nvSpPr>
            <p:cNvPr id="21" name="Freeform 21"/>
            <p:cNvSpPr/>
            <p:nvPr/>
          </p:nvSpPr>
          <p:spPr>
            <a:xfrm>
              <a:off x="0" y="0"/>
              <a:ext cx="17522827" cy="1865208"/>
            </a:xfrm>
            <a:custGeom>
              <a:avLst/>
              <a:gdLst/>
              <a:ahLst/>
              <a:cxnLst/>
              <a:rect l="l" t="t" r="r" b="b"/>
              <a:pathLst>
                <a:path w="17522827" h="1865208">
                  <a:moveTo>
                    <a:pt x="0" y="0"/>
                  </a:moveTo>
                  <a:lnTo>
                    <a:pt x="17522827" y="0"/>
                  </a:lnTo>
                  <a:lnTo>
                    <a:pt x="17522827" y="1865208"/>
                  </a:lnTo>
                  <a:lnTo>
                    <a:pt x="0" y="1865208"/>
                  </a:lnTo>
                  <a:close/>
                </a:path>
              </a:pathLst>
            </a:custGeom>
            <a:blipFill>
              <a:blip r:embed="rId7">
                <a:alphaModFix amt="0"/>
              </a:blip>
              <a:stretch>
                <a:fillRect t="-145150" b="-120956"/>
              </a:stretch>
            </a:blipFill>
          </p:spPr>
        </p:sp>
        <p:sp>
          <p:nvSpPr>
            <p:cNvPr id="22" name="TextBox 22"/>
            <p:cNvSpPr txBox="1"/>
            <p:nvPr/>
          </p:nvSpPr>
          <p:spPr>
            <a:xfrm>
              <a:off x="0" y="0"/>
              <a:ext cx="17522825" cy="1865209"/>
            </a:xfrm>
            <a:prstGeom prst="rect">
              <a:avLst/>
            </a:prstGeom>
          </p:spPr>
          <p:txBody>
            <a:bodyPr lIns="0" tIns="0" rIns="0" bIns="0" rtlCol="0" anchor="ctr"/>
            <a:lstStyle/>
            <a:p>
              <a:pPr algn="l">
                <a:lnSpc>
                  <a:spcPts val="6480"/>
                </a:lnSpc>
              </a:pPr>
              <a:r>
                <a:rPr lang="en-US" sz="5400" b="1" dirty="0">
                  <a:solidFill>
                    <a:srgbClr val="FFFF00"/>
                  </a:solidFill>
                  <a:latin typeface="Times New Roman" pitchFamily="18" charset="0"/>
                  <a:ea typeface="Century Gothic Paneuropean"/>
                  <a:cs typeface="Times New Roman" pitchFamily="18" charset="0"/>
                  <a:sym typeface="Century Gothic Paneuropean"/>
                </a:rPr>
                <a:t>NOVELTY AND UNIQUENESS </a:t>
              </a:r>
            </a:p>
          </p:txBody>
        </p:sp>
      </p:grpSp>
      <p:sp>
        <p:nvSpPr>
          <p:cNvPr id="23" name="TextBox 23"/>
          <p:cNvSpPr txBox="1"/>
          <p:nvPr/>
        </p:nvSpPr>
        <p:spPr>
          <a:xfrm>
            <a:off x="1823876" y="3950970"/>
            <a:ext cx="13055613" cy="3652795"/>
          </a:xfrm>
          <a:prstGeom prst="rect">
            <a:avLst/>
          </a:prstGeom>
        </p:spPr>
        <p:txBody>
          <a:bodyPr lIns="0" tIns="0" rIns="0" bIns="0" rtlCol="0" anchor="t">
            <a:spAutoFit/>
          </a:bodyPr>
          <a:lstStyle/>
          <a:p>
            <a:pPr marL="488632" lvl="1" indent="-244316" algn="l">
              <a:lnSpc>
                <a:spcPct val="150000"/>
              </a:lnSpc>
              <a:buFont typeface="Arial"/>
              <a:buChar char="•"/>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Integrated Eco Bucks reward system to motivate proper disposal.</a:t>
            </a:r>
          </a:p>
          <a:p>
            <a:pPr marL="488632" lvl="1" indent="-244316" algn="l">
              <a:lnSpc>
                <a:spcPct val="150000"/>
              </a:lnSpc>
              <a:buFont typeface="Arial"/>
              <a:buChar char="•"/>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QR-based user authentication to prevent misuse.</a:t>
            </a:r>
          </a:p>
          <a:p>
            <a:pPr marL="488632" lvl="1" indent="-244316" algn="l">
              <a:lnSpc>
                <a:spcPct val="150000"/>
              </a:lnSpc>
              <a:buFont typeface="Arial"/>
              <a:buChar char="•"/>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Camera-based cup verification for accurate detection.</a:t>
            </a:r>
          </a:p>
          <a:p>
            <a:pPr marL="488632" lvl="1" indent="-244316" algn="l">
              <a:lnSpc>
                <a:spcPct val="150000"/>
              </a:lnSpc>
              <a:buFont typeface="Arial"/>
              <a:buChar char="•"/>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Automated shredding mechanism for volume reduction.</a:t>
            </a:r>
          </a:p>
          <a:p>
            <a:pPr marL="488632" lvl="1" indent="-244316" algn="l">
              <a:lnSpc>
                <a:spcPct val="150000"/>
              </a:lnSpc>
              <a:buFont typeface="Arial"/>
              <a:buChar char="•"/>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Designed specifically to handle plastic-lined paper cups.</a:t>
            </a:r>
          </a:p>
          <a:p>
            <a:pPr marL="488632" lvl="1" indent="-244316" algn="l">
              <a:lnSpc>
                <a:spcPct val="150000"/>
              </a:lnSpc>
              <a:buFont typeface="Arial"/>
              <a:buChar char="•"/>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Reduces transportation cost and landfill burden.</a:t>
            </a:r>
          </a:p>
          <a:p>
            <a:pPr marL="488632" lvl="1" indent="-244316" algn="l">
              <a:lnSpc>
                <a:spcPct val="150000"/>
              </a:lnSpc>
              <a:buFont typeface="Arial"/>
              <a:buChar char="•"/>
            </a:pPr>
            <a:r>
              <a:rPr lang="en-US" sz="2300" b="1" dirty="0">
                <a:solidFill>
                  <a:srgbClr val="404040"/>
                </a:solidFill>
                <a:latin typeface="Times New Roman" pitchFamily="18" charset="0"/>
                <a:ea typeface="Century Gothic Paneuropean Bold"/>
                <a:cs typeface="Times New Roman" pitchFamily="18" charset="0"/>
                <a:sym typeface="Century Gothic Paneuropean Bold"/>
              </a:rPr>
              <a:t>Promotes sustainable and organized waste management</a:t>
            </a:r>
            <a:r>
              <a:rPr lang="en-US" sz="2000" b="1" dirty="0">
                <a:solidFill>
                  <a:srgbClr val="404040"/>
                </a:solidFill>
                <a:latin typeface="Times New Roman" pitchFamily="18" charset="0"/>
                <a:ea typeface="Century Gothic Paneuropean Bold"/>
                <a:cs typeface="Times New Roman" pitchFamily="18" charset="0"/>
                <a:sym typeface="Century Gothic Paneuropean Bold"/>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0" y="2381"/>
            <a:ext cx="18288000" cy="10284619"/>
            <a:chOff x="0" y="0"/>
            <a:chExt cx="24384000" cy="13712825"/>
          </a:xfrm>
        </p:grpSpPr>
        <p:sp>
          <p:nvSpPr>
            <p:cNvPr id="17" name="Freeform 17"/>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0" name="Group 20"/>
          <p:cNvGrpSpPr/>
          <p:nvPr/>
        </p:nvGrpSpPr>
        <p:grpSpPr>
          <a:xfrm>
            <a:off x="1732436" y="1460506"/>
            <a:ext cx="13142119" cy="1113358"/>
            <a:chOff x="0" y="0"/>
            <a:chExt cx="17522825" cy="1484478"/>
          </a:xfrm>
        </p:grpSpPr>
        <p:sp>
          <p:nvSpPr>
            <p:cNvPr id="21" name="Freeform 21"/>
            <p:cNvSpPr/>
            <p:nvPr/>
          </p:nvSpPr>
          <p:spPr>
            <a:xfrm>
              <a:off x="0" y="0"/>
              <a:ext cx="17522827" cy="1484477"/>
            </a:xfrm>
            <a:custGeom>
              <a:avLst/>
              <a:gdLst/>
              <a:ahLst/>
              <a:cxnLst/>
              <a:rect l="l" t="t" r="r" b="b"/>
              <a:pathLst>
                <a:path w="17522827" h="1484477">
                  <a:moveTo>
                    <a:pt x="0" y="0"/>
                  </a:moveTo>
                  <a:lnTo>
                    <a:pt x="17522827" y="0"/>
                  </a:lnTo>
                  <a:lnTo>
                    <a:pt x="17522827" y="1484477"/>
                  </a:lnTo>
                  <a:lnTo>
                    <a:pt x="0" y="1484477"/>
                  </a:lnTo>
                  <a:close/>
                </a:path>
              </a:pathLst>
            </a:custGeom>
            <a:blipFill>
              <a:blip r:embed="rId7">
                <a:alphaModFix amt="0"/>
              </a:blip>
              <a:stretch>
                <a:fillRect t="-182378" b="-177626"/>
              </a:stretch>
            </a:blipFill>
          </p:spPr>
        </p:sp>
        <p:sp>
          <p:nvSpPr>
            <p:cNvPr id="22" name="TextBox 22"/>
            <p:cNvSpPr txBox="1"/>
            <p:nvPr/>
          </p:nvSpPr>
          <p:spPr>
            <a:xfrm>
              <a:off x="0" y="0"/>
              <a:ext cx="17522825" cy="1484478"/>
            </a:xfrm>
            <a:prstGeom prst="rect">
              <a:avLst/>
            </a:prstGeom>
          </p:spPr>
          <p:txBody>
            <a:bodyPr lIns="0" tIns="0" rIns="0" bIns="0" rtlCol="0" anchor="ctr"/>
            <a:lstStyle/>
            <a:p>
              <a:pPr algn="l">
                <a:lnSpc>
                  <a:spcPts val="6480"/>
                </a:lnSpc>
              </a:pPr>
              <a:r>
                <a:rPr lang="en-US" sz="5400" dirty="0">
                  <a:solidFill>
                    <a:srgbClr val="FFFF00"/>
                  </a:solidFill>
                  <a:latin typeface="Century Gothic Paneuropean"/>
                  <a:ea typeface="Century Gothic Paneuropean"/>
                  <a:cs typeface="Century Gothic Paneuropean"/>
                  <a:sym typeface="Century Gothic Paneuropean"/>
                </a:rPr>
                <a:t>COMPETITIVE ANALYSIS </a:t>
              </a:r>
            </a:p>
          </p:txBody>
        </p:sp>
      </p:grpSp>
      <p:sp>
        <p:nvSpPr>
          <p:cNvPr id="23" name="TextBox 23"/>
          <p:cNvSpPr txBox="1"/>
          <p:nvPr/>
        </p:nvSpPr>
        <p:spPr>
          <a:xfrm>
            <a:off x="1823876" y="3960495"/>
            <a:ext cx="13055613" cy="4714624"/>
          </a:xfrm>
          <a:prstGeom prst="rect">
            <a:avLst/>
          </a:prstGeom>
        </p:spPr>
        <p:txBody>
          <a:bodyPr lIns="0" tIns="0" rIns="0" bIns="0" rtlCol="0" anchor="t">
            <a:spAutoFit/>
          </a:bodyPr>
          <a:lstStyle/>
          <a:p>
            <a:pPr marL="451985" lvl="1" indent="-225993"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Existing waste management systems such as traditional dustbins only collect paper cup waste without any processing or segregation. They do not reduce the volume of waste, nor do they encourage user participation. As a result, large quantities of bulky paper cups are sent directly to landfills.</a:t>
            </a:r>
          </a:p>
          <a:p>
            <a:pPr marL="451985" lvl="1" indent="-225993"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Manual shredding methods require human effort, are time-consuming, and may pose safety risks. They also lack consistency and do not provide any motivation for proper disposal.</a:t>
            </a:r>
          </a:p>
          <a:p>
            <a:pPr marL="451985" lvl="1" indent="-225993"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In comparison, the proposed Smart Automated Paper Cup Shredder offers a fully automated solution with QR-based user authentication and camera verification. It not only reduces the volume of waste through shredding but also introduces an Eco Bucks reward system to encourage responsible disposal. This makes the system more efficient, safe, sustainable, and user-engaging compared to existing solutions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0" y="2381"/>
            <a:ext cx="18288000" cy="10284619"/>
            <a:chOff x="0" y="0"/>
            <a:chExt cx="24384000" cy="13712825"/>
          </a:xfrm>
        </p:grpSpPr>
        <p:sp>
          <p:nvSpPr>
            <p:cNvPr id="17" name="Freeform 17"/>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0" name="Group 20"/>
          <p:cNvGrpSpPr/>
          <p:nvPr/>
        </p:nvGrpSpPr>
        <p:grpSpPr>
          <a:xfrm>
            <a:off x="1732436" y="1460506"/>
            <a:ext cx="13142119" cy="1113358"/>
            <a:chOff x="0" y="0"/>
            <a:chExt cx="17522825" cy="1484478"/>
          </a:xfrm>
        </p:grpSpPr>
        <p:sp>
          <p:nvSpPr>
            <p:cNvPr id="21" name="Freeform 21"/>
            <p:cNvSpPr/>
            <p:nvPr/>
          </p:nvSpPr>
          <p:spPr>
            <a:xfrm>
              <a:off x="0" y="0"/>
              <a:ext cx="17522827" cy="1484477"/>
            </a:xfrm>
            <a:custGeom>
              <a:avLst/>
              <a:gdLst/>
              <a:ahLst/>
              <a:cxnLst/>
              <a:rect l="l" t="t" r="r" b="b"/>
              <a:pathLst>
                <a:path w="17522827" h="1484477">
                  <a:moveTo>
                    <a:pt x="0" y="0"/>
                  </a:moveTo>
                  <a:lnTo>
                    <a:pt x="17522827" y="0"/>
                  </a:lnTo>
                  <a:lnTo>
                    <a:pt x="17522827" y="1484477"/>
                  </a:lnTo>
                  <a:lnTo>
                    <a:pt x="0" y="1484477"/>
                  </a:lnTo>
                  <a:close/>
                </a:path>
              </a:pathLst>
            </a:custGeom>
            <a:blipFill>
              <a:blip r:embed="rId7">
                <a:alphaModFix amt="0"/>
              </a:blip>
              <a:stretch>
                <a:fillRect t="-182378" b="-177626"/>
              </a:stretch>
            </a:blipFill>
          </p:spPr>
        </p:sp>
        <p:sp>
          <p:nvSpPr>
            <p:cNvPr id="22" name="TextBox 22"/>
            <p:cNvSpPr txBox="1"/>
            <p:nvPr/>
          </p:nvSpPr>
          <p:spPr>
            <a:xfrm>
              <a:off x="0" y="0"/>
              <a:ext cx="17522825" cy="1484478"/>
            </a:xfrm>
            <a:prstGeom prst="rect">
              <a:avLst/>
            </a:prstGeom>
          </p:spPr>
          <p:txBody>
            <a:bodyPr lIns="0" tIns="0" rIns="0" bIns="0" rtlCol="0" anchor="ctr"/>
            <a:lstStyle/>
            <a:p>
              <a:pPr algn="l">
                <a:lnSpc>
                  <a:spcPts val="6480"/>
                </a:lnSpc>
              </a:pPr>
              <a:r>
                <a:rPr lang="en-US" sz="5400" dirty="0">
                  <a:solidFill>
                    <a:srgbClr val="FFFF00"/>
                  </a:solidFill>
                  <a:latin typeface="Century Gothic Paneuropean"/>
                  <a:ea typeface="Century Gothic Paneuropean"/>
                  <a:cs typeface="Century Gothic Paneuropean"/>
                  <a:sym typeface="Century Gothic Paneuropean"/>
                </a:rPr>
                <a:t>SOCIAL IMPACT</a:t>
              </a:r>
            </a:p>
          </p:txBody>
        </p:sp>
      </p:grpSp>
      <p:sp>
        <p:nvSpPr>
          <p:cNvPr id="23" name="TextBox 23"/>
          <p:cNvSpPr txBox="1"/>
          <p:nvPr/>
        </p:nvSpPr>
        <p:spPr>
          <a:xfrm>
            <a:off x="2616194" y="4219908"/>
            <a:ext cx="13055613" cy="4714624"/>
          </a:xfrm>
          <a:prstGeom prst="rect">
            <a:avLst/>
          </a:prstGeom>
        </p:spPr>
        <p:txBody>
          <a:bodyPr lIns="0" tIns="0" rIns="0" bIns="0" rtlCol="0" anchor="t">
            <a:spAutoFit/>
          </a:bodyPr>
          <a:lstStyle/>
          <a:p>
            <a:pPr marL="488632" lvl="1" indent="-244316"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The proposed Smart Automated Paper Cup Shredder creates a positive social impact by promoting responsible waste disposal habits among the public. By introducing the Eco Bucks reward system, it encourages people to actively participate in environmental protection.</a:t>
            </a:r>
          </a:p>
          <a:p>
            <a:pPr marL="488632" lvl="1" indent="-244316"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The system reduces littering in public places such as restaurants, offices, and events, helping to maintain cleaner surroundings. It also spreads awareness about the importance of recycling plastic-lined paper cups, which are often neglected in traditional waste management systems.</a:t>
            </a:r>
          </a:p>
          <a:p>
            <a:pPr marL="488632" lvl="1" indent="-244316"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Additionally, the project supports sustainable practices, reduces landfill burden, and contributes to a greener and healthier community. By combining technology with environmental responsibility, the system fosters long-term behavioral change in society.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0" y="2381"/>
            <a:ext cx="18288000" cy="10284619"/>
            <a:chOff x="0" y="0"/>
            <a:chExt cx="24384000" cy="13712825"/>
          </a:xfrm>
        </p:grpSpPr>
        <p:sp>
          <p:nvSpPr>
            <p:cNvPr id="17" name="Freeform 17"/>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0" name="Group 20"/>
          <p:cNvGrpSpPr/>
          <p:nvPr/>
        </p:nvGrpSpPr>
        <p:grpSpPr>
          <a:xfrm>
            <a:off x="1732436" y="1460506"/>
            <a:ext cx="13142119" cy="1113358"/>
            <a:chOff x="0" y="0"/>
            <a:chExt cx="17522825" cy="1484478"/>
          </a:xfrm>
        </p:grpSpPr>
        <p:sp>
          <p:nvSpPr>
            <p:cNvPr id="21" name="Freeform 21"/>
            <p:cNvSpPr/>
            <p:nvPr/>
          </p:nvSpPr>
          <p:spPr>
            <a:xfrm>
              <a:off x="0" y="0"/>
              <a:ext cx="17522827" cy="1484477"/>
            </a:xfrm>
            <a:custGeom>
              <a:avLst/>
              <a:gdLst/>
              <a:ahLst/>
              <a:cxnLst/>
              <a:rect l="l" t="t" r="r" b="b"/>
              <a:pathLst>
                <a:path w="17522827" h="1484477">
                  <a:moveTo>
                    <a:pt x="0" y="0"/>
                  </a:moveTo>
                  <a:lnTo>
                    <a:pt x="17522827" y="0"/>
                  </a:lnTo>
                  <a:lnTo>
                    <a:pt x="17522827" y="1484477"/>
                  </a:lnTo>
                  <a:lnTo>
                    <a:pt x="0" y="1484477"/>
                  </a:lnTo>
                  <a:close/>
                </a:path>
              </a:pathLst>
            </a:custGeom>
            <a:blipFill>
              <a:blip r:embed="rId7">
                <a:alphaModFix amt="0"/>
              </a:blip>
              <a:stretch>
                <a:fillRect t="-182378" b="-177626"/>
              </a:stretch>
            </a:blipFill>
          </p:spPr>
        </p:sp>
        <p:sp>
          <p:nvSpPr>
            <p:cNvPr id="22" name="TextBox 22"/>
            <p:cNvSpPr txBox="1"/>
            <p:nvPr/>
          </p:nvSpPr>
          <p:spPr>
            <a:xfrm>
              <a:off x="0" y="0"/>
              <a:ext cx="17522825" cy="1484478"/>
            </a:xfrm>
            <a:prstGeom prst="rect">
              <a:avLst/>
            </a:prstGeom>
          </p:spPr>
          <p:txBody>
            <a:bodyPr lIns="0" tIns="0" rIns="0" bIns="0" rtlCol="0" anchor="ctr"/>
            <a:lstStyle/>
            <a:p>
              <a:pPr algn="l">
                <a:lnSpc>
                  <a:spcPts val="6480"/>
                </a:lnSpc>
              </a:pPr>
              <a:r>
                <a:rPr lang="en-US" sz="5400" dirty="0">
                  <a:solidFill>
                    <a:srgbClr val="FFFF00"/>
                  </a:solidFill>
                  <a:latin typeface="Century Gothic Paneuropean"/>
                  <a:ea typeface="Century Gothic Paneuropean"/>
                  <a:cs typeface="Century Gothic Paneuropean"/>
                  <a:sym typeface="Century Gothic Paneuropean"/>
                </a:rPr>
                <a:t>BUSINESS MODEL </a:t>
              </a:r>
            </a:p>
          </p:txBody>
        </p:sp>
      </p:grpSp>
      <p:sp>
        <p:nvSpPr>
          <p:cNvPr id="23" name="Freeform 23"/>
          <p:cNvSpPr/>
          <p:nvPr/>
        </p:nvSpPr>
        <p:spPr>
          <a:xfrm>
            <a:off x="13001652" y="3633665"/>
            <a:ext cx="5233798" cy="5796828"/>
          </a:xfrm>
          <a:custGeom>
            <a:avLst/>
            <a:gdLst/>
            <a:ahLst/>
            <a:cxnLst/>
            <a:rect l="l" t="t" r="r" b="b"/>
            <a:pathLst>
              <a:path w="7672062" h="5796828">
                <a:moveTo>
                  <a:pt x="0" y="0"/>
                </a:moveTo>
                <a:lnTo>
                  <a:pt x="7672062" y="0"/>
                </a:lnTo>
                <a:lnTo>
                  <a:pt x="7672062" y="5796828"/>
                </a:lnTo>
                <a:lnTo>
                  <a:pt x="0" y="5796828"/>
                </a:lnTo>
                <a:lnTo>
                  <a:pt x="0" y="0"/>
                </a:lnTo>
                <a:close/>
              </a:path>
            </a:pathLst>
          </a:custGeom>
          <a:blipFill>
            <a:blip r:embed="rId8"/>
            <a:stretch>
              <a:fillRect l="-7912" t="-1075" r="-7375" b="-582"/>
            </a:stretch>
          </a:blipFill>
        </p:spPr>
      </p:sp>
      <p:sp>
        <p:nvSpPr>
          <p:cNvPr id="24" name="TextBox 24"/>
          <p:cNvSpPr txBox="1"/>
          <p:nvPr/>
        </p:nvSpPr>
        <p:spPr>
          <a:xfrm>
            <a:off x="453884" y="3214674"/>
            <a:ext cx="12476330" cy="7575680"/>
          </a:xfrm>
          <a:prstGeom prst="rect">
            <a:avLst/>
          </a:prstGeom>
        </p:spPr>
        <p:txBody>
          <a:bodyPr wrap="square" lIns="0" tIns="0" rIns="0" bIns="0" rtlCol="0" anchor="t">
            <a:spAutoFit/>
          </a:bodyPr>
          <a:lstStyle/>
          <a:p>
            <a:pPr marL="405590" lvl="1" indent="-202795"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The proposed Smart Automated Paper Cup Shredder operates on a B2B (Business-to-Business) and B2G (Business-to-Government) model. The machine can be installed in restaurants, corporate offices, shopping malls, educational institutions, and public places.</a:t>
            </a:r>
          </a:p>
          <a:p>
            <a:pPr marL="405590" lvl="1" indent="-202795"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Revenue will be generated through:</a:t>
            </a:r>
          </a:p>
          <a:p>
            <a:pPr marL="405590" lvl="1" indent="-202795"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Machine Sales or Leasing Model – Organizations can purchase the machine or take it on a monthly rental basis.</a:t>
            </a:r>
          </a:p>
          <a:p>
            <a:pPr marL="405590" lvl="1" indent="-202795"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Maintenance and Service Charges – Annual maintenance contracts (AMC) for regular servicing.</a:t>
            </a:r>
          </a:p>
          <a:p>
            <a:pPr marL="405590" lvl="1" indent="-202795"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Recycled Material Sales – Shredded paper cup material can be sold to recycling industries.</a:t>
            </a:r>
          </a:p>
          <a:p>
            <a:pPr marL="405590" lvl="1" indent="-202795"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Brand Partnerships &amp; Advertisements – Display space on the machine or mobile app for eco-friendly brands.</a:t>
            </a:r>
          </a:p>
          <a:p>
            <a:pPr marL="405590" lvl="1" indent="-202795"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CSR Collaborations – Companies can sponsor installations as part of their Corporate Social Responsibility initiatives.</a:t>
            </a:r>
          </a:p>
          <a:p>
            <a:pPr marL="405590" lvl="1" indent="-202795" algn="just">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The Eco Bucks reward system increases user engagement, ensuring continuous usage, which strengthens the sustainability of the business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0" y="0"/>
            <a:ext cx="18288000" cy="10287000"/>
            <a:chOff x="0" y="0"/>
            <a:chExt cx="25084249" cy="14109890"/>
          </a:xfrm>
        </p:grpSpPr>
        <p:sp>
          <p:nvSpPr>
            <p:cNvPr id="17" name="Freeform 17"/>
            <p:cNvSpPr/>
            <p:nvPr/>
          </p:nvSpPr>
          <p:spPr>
            <a:xfrm>
              <a:off x="0" y="0"/>
              <a:ext cx="25084249" cy="14109889"/>
            </a:xfrm>
            <a:custGeom>
              <a:avLst/>
              <a:gdLst/>
              <a:ahLst/>
              <a:cxnLst/>
              <a:rect l="l" t="t" r="r" b="b"/>
              <a:pathLst>
                <a:path w="25084249" h="14109889">
                  <a:moveTo>
                    <a:pt x="0" y="0"/>
                  </a:moveTo>
                  <a:lnTo>
                    <a:pt x="0" y="14109889"/>
                  </a:lnTo>
                  <a:lnTo>
                    <a:pt x="25084249" y="14109889"/>
                  </a:lnTo>
                  <a:lnTo>
                    <a:pt x="25084249" y="0"/>
                  </a:lnTo>
                  <a:lnTo>
                    <a:pt x="0" y="0"/>
                  </a:lnTo>
                  <a:close/>
                  <a:moveTo>
                    <a:pt x="24091069" y="13129809"/>
                  </a:moveTo>
                  <a:lnTo>
                    <a:pt x="980115" y="13129809"/>
                  </a:lnTo>
                  <a:lnTo>
                    <a:pt x="980115" y="967013"/>
                  </a:lnTo>
                  <a:lnTo>
                    <a:pt x="24091069" y="967013"/>
                  </a:lnTo>
                  <a:lnTo>
                    <a:pt x="24091069" y="13129809"/>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0" name="Group 20"/>
          <p:cNvGrpSpPr/>
          <p:nvPr/>
        </p:nvGrpSpPr>
        <p:grpSpPr>
          <a:xfrm>
            <a:off x="1732436" y="1460506"/>
            <a:ext cx="13142119" cy="1113358"/>
            <a:chOff x="0" y="0"/>
            <a:chExt cx="17522825" cy="1484478"/>
          </a:xfrm>
        </p:grpSpPr>
        <p:sp>
          <p:nvSpPr>
            <p:cNvPr id="21" name="Freeform 21"/>
            <p:cNvSpPr/>
            <p:nvPr/>
          </p:nvSpPr>
          <p:spPr>
            <a:xfrm>
              <a:off x="0" y="0"/>
              <a:ext cx="17522827" cy="1484477"/>
            </a:xfrm>
            <a:custGeom>
              <a:avLst/>
              <a:gdLst/>
              <a:ahLst/>
              <a:cxnLst/>
              <a:rect l="l" t="t" r="r" b="b"/>
              <a:pathLst>
                <a:path w="17522827" h="1484477">
                  <a:moveTo>
                    <a:pt x="0" y="0"/>
                  </a:moveTo>
                  <a:lnTo>
                    <a:pt x="17522827" y="0"/>
                  </a:lnTo>
                  <a:lnTo>
                    <a:pt x="17522827" y="1484477"/>
                  </a:lnTo>
                  <a:lnTo>
                    <a:pt x="0" y="1484477"/>
                  </a:lnTo>
                  <a:close/>
                </a:path>
              </a:pathLst>
            </a:custGeom>
            <a:blipFill>
              <a:blip r:embed="rId7">
                <a:alphaModFix amt="0"/>
              </a:blip>
              <a:stretch>
                <a:fillRect t="-182378" b="-177626"/>
              </a:stretch>
            </a:blipFill>
          </p:spPr>
        </p:sp>
        <p:sp>
          <p:nvSpPr>
            <p:cNvPr id="22" name="TextBox 22"/>
            <p:cNvSpPr txBox="1"/>
            <p:nvPr/>
          </p:nvSpPr>
          <p:spPr>
            <a:xfrm>
              <a:off x="0" y="0"/>
              <a:ext cx="17522825" cy="1484478"/>
            </a:xfrm>
            <a:prstGeom prst="rect">
              <a:avLst/>
            </a:prstGeom>
          </p:spPr>
          <p:txBody>
            <a:bodyPr lIns="0" tIns="0" rIns="0" bIns="0" rtlCol="0" anchor="ctr"/>
            <a:lstStyle/>
            <a:p>
              <a:pPr algn="l">
                <a:lnSpc>
                  <a:spcPts val="6480"/>
                </a:lnSpc>
              </a:pPr>
              <a:r>
                <a:rPr lang="en-US" sz="5400" dirty="0">
                  <a:solidFill>
                    <a:srgbClr val="FFFF00"/>
                  </a:solidFill>
                  <a:latin typeface="Century Gothic Paneuropean"/>
                  <a:ea typeface="Century Gothic Paneuropean"/>
                  <a:cs typeface="Century Gothic Paneuropean"/>
                  <a:sym typeface="Century Gothic Paneuropean"/>
                </a:rPr>
                <a:t>MARKET OPPORTUNITIES </a:t>
              </a:r>
            </a:p>
          </p:txBody>
        </p:sp>
      </p:grpSp>
      <p:sp>
        <p:nvSpPr>
          <p:cNvPr id="23" name="TextBox 23"/>
          <p:cNvSpPr txBox="1"/>
          <p:nvPr/>
        </p:nvSpPr>
        <p:spPr>
          <a:xfrm>
            <a:off x="1028700" y="3500426"/>
            <a:ext cx="16576958" cy="7044765"/>
          </a:xfrm>
          <a:prstGeom prst="rect">
            <a:avLst/>
          </a:prstGeom>
        </p:spPr>
        <p:txBody>
          <a:bodyPr wrap="square" lIns="0" tIns="0" rIns="0" bIns="0" rtlCol="0" anchor="t">
            <a:spAutoFit/>
          </a:bodyPr>
          <a:lstStyle/>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The increasing use of disposable paper cups in restaurants, cafes, corporate offices, colleges, hospitals, and public events creates a large and growing market demand for an efficient waste management solution.</a:t>
            </a:r>
          </a:p>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Governments and municipalities are actively promoting sustainable waste management practices, creating opportunities for collaboration and large-scale implementation in smart cities.</a:t>
            </a:r>
          </a:p>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The rising awareness about environmental pollution and plastic-lined paper cup waste opens opportunities for eco-friendly innovations like this automated shredder system.</a:t>
            </a:r>
          </a:p>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Potential market segments include:</a:t>
            </a:r>
          </a:p>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Restaurants and coffee shops</a:t>
            </a:r>
          </a:p>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IT parks and corporate offices</a:t>
            </a:r>
          </a:p>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Educational institutions</a:t>
            </a:r>
          </a:p>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Shopping malls and airports</a:t>
            </a:r>
          </a:p>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Event management companies</a:t>
            </a:r>
          </a:p>
          <a:p>
            <a:pPr marL="431302" lvl="1" indent="-215651" algn="l">
              <a:lnSpc>
                <a:spcPct val="150000"/>
              </a:lnSpc>
              <a:buFont typeface="Wingdings" pitchFamily="2" charset="2"/>
              <a:buChar char="Ø"/>
            </a:pPr>
            <a:r>
              <a:rPr lang="en-US" sz="2300" dirty="0">
                <a:solidFill>
                  <a:srgbClr val="404040"/>
                </a:solidFill>
                <a:latin typeface="Times New Roman" pitchFamily="18" charset="0"/>
                <a:ea typeface="Century Gothic Paneuropean Bold"/>
                <a:cs typeface="Times New Roman" pitchFamily="18" charset="0"/>
                <a:sym typeface="Century Gothic Paneuropean Bold"/>
              </a:rPr>
              <a:t>Municipal corporations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0" y="2381"/>
            <a:ext cx="18288000" cy="10284619"/>
            <a:chOff x="0" y="0"/>
            <a:chExt cx="24384000" cy="13712825"/>
          </a:xfrm>
        </p:grpSpPr>
        <p:sp>
          <p:nvSpPr>
            <p:cNvPr id="17" name="Freeform 17"/>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sp>
        <p:nvSpPr>
          <p:cNvPr id="20" name="Freeform 20"/>
          <p:cNvSpPr/>
          <p:nvPr/>
        </p:nvSpPr>
        <p:spPr>
          <a:xfrm>
            <a:off x="400430" y="3830998"/>
            <a:ext cx="8743570" cy="5825403"/>
          </a:xfrm>
          <a:custGeom>
            <a:avLst/>
            <a:gdLst/>
            <a:ahLst/>
            <a:cxnLst/>
            <a:rect l="l" t="t" r="r" b="b"/>
            <a:pathLst>
              <a:path w="8743570" h="5825403">
                <a:moveTo>
                  <a:pt x="0" y="0"/>
                </a:moveTo>
                <a:lnTo>
                  <a:pt x="8743570" y="0"/>
                </a:lnTo>
                <a:lnTo>
                  <a:pt x="8743570" y="5825404"/>
                </a:lnTo>
                <a:lnTo>
                  <a:pt x="0" y="5825404"/>
                </a:lnTo>
                <a:lnTo>
                  <a:pt x="0" y="0"/>
                </a:lnTo>
                <a:close/>
              </a:path>
            </a:pathLst>
          </a:custGeom>
          <a:blipFill>
            <a:blip r:embed="rId7"/>
            <a:stretch>
              <a:fillRect/>
            </a:stretch>
          </a:blipFill>
        </p:spPr>
      </p:sp>
      <p:sp>
        <p:nvSpPr>
          <p:cNvPr id="21" name="Freeform 21"/>
          <p:cNvSpPr/>
          <p:nvPr/>
        </p:nvSpPr>
        <p:spPr>
          <a:xfrm>
            <a:off x="9284684" y="3830998"/>
            <a:ext cx="8743570" cy="5825403"/>
          </a:xfrm>
          <a:custGeom>
            <a:avLst/>
            <a:gdLst/>
            <a:ahLst/>
            <a:cxnLst/>
            <a:rect l="l" t="t" r="r" b="b"/>
            <a:pathLst>
              <a:path w="8743570" h="5825403">
                <a:moveTo>
                  <a:pt x="0" y="0"/>
                </a:moveTo>
                <a:lnTo>
                  <a:pt x="8743570" y="0"/>
                </a:lnTo>
                <a:lnTo>
                  <a:pt x="8743570" y="5825404"/>
                </a:lnTo>
                <a:lnTo>
                  <a:pt x="0" y="5825404"/>
                </a:lnTo>
                <a:lnTo>
                  <a:pt x="0" y="0"/>
                </a:lnTo>
                <a:close/>
              </a:path>
            </a:pathLst>
          </a:custGeom>
          <a:blipFill>
            <a:blip r:embed="rId8"/>
            <a:stretch>
              <a:fillRect/>
            </a:stretch>
          </a:blipFill>
        </p:spPr>
      </p:sp>
      <p:sp>
        <p:nvSpPr>
          <p:cNvPr id="22" name="TextBox 22"/>
          <p:cNvSpPr txBox="1"/>
          <p:nvPr/>
        </p:nvSpPr>
        <p:spPr>
          <a:xfrm>
            <a:off x="5931723" y="1619250"/>
            <a:ext cx="5680202" cy="1810367"/>
          </a:xfrm>
          <a:prstGeom prst="rect">
            <a:avLst/>
          </a:prstGeom>
        </p:spPr>
        <p:txBody>
          <a:bodyPr lIns="0" tIns="0" rIns="0" bIns="0" rtlCol="0" anchor="t">
            <a:spAutoFit/>
          </a:bodyPr>
          <a:lstStyle/>
          <a:p>
            <a:pPr algn="ctr">
              <a:lnSpc>
                <a:spcPts val="7279"/>
              </a:lnSpc>
            </a:pPr>
            <a:r>
              <a:rPr lang="en-US" sz="5199" dirty="0">
                <a:solidFill>
                  <a:srgbClr val="FFFF00"/>
                </a:solidFill>
                <a:latin typeface="Canva Sans Bold"/>
                <a:ea typeface="Canva Sans Bold"/>
                <a:cs typeface="Canva Sans Bold"/>
                <a:sym typeface="Canva Sans Bold"/>
              </a:rPr>
              <a:t>RELATED IMAGES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sp>
      </p:grpSp>
      <p:grpSp>
        <p:nvGrpSpPr>
          <p:cNvPr id="4" name="Group 4"/>
          <p:cNvGrpSpPr/>
          <p:nvPr/>
        </p:nvGrpSpPr>
        <p:grpSpPr>
          <a:xfrm>
            <a:off x="0" y="4000500"/>
            <a:ext cx="6286500" cy="6286500"/>
            <a:chOff x="0" y="0"/>
            <a:chExt cx="8382000" cy="8382000"/>
          </a:xfrm>
        </p:grpSpPr>
        <p:sp>
          <p:nvSpPr>
            <p:cNvPr id="5" name="Freeform 5"/>
            <p:cNvSpPr/>
            <p:nvPr/>
          </p:nvSpPr>
          <p:spPr>
            <a:xfrm>
              <a:off x="0" y="0"/>
              <a:ext cx="8382000" cy="8382000"/>
            </a:xfrm>
            <a:custGeom>
              <a:avLst/>
              <a:gdLst/>
              <a:ahLst/>
              <a:cxnLst/>
              <a:rect l="l" t="t" r="r" b="b"/>
              <a:pathLst>
                <a:path w="8382000" h="8382000">
                  <a:moveTo>
                    <a:pt x="0" y="4191000"/>
                  </a:moveTo>
                  <a:cubicBezTo>
                    <a:pt x="0" y="1876425"/>
                    <a:pt x="1876425" y="0"/>
                    <a:pt x="4191000" y="0"/>
                  </a:cubicBezTo>
                  <a:cubicBezTo>
                    <a:pt x="6505575" y="0"/>
                    <a:pt x="8382000" y="1876425"/>
                    <a:pt x="8382000" y="4191000"/>
                  </a:cubicBezTo>
                  <a:cubicBezTo>
                    <a:pt x="8382000" y="6505575"/>
                    <a:pt x="6505575" y="8382000"/>
                    <a:pt x="4191000" y="8382000"/>
                  </a:cubicBezTo>
                  <a:cubicBezTo>
                    <a:pt x="1876425" y="8382000"/>
                    <a:pt x="0" y="6505575"/>
                    <a:pt x="0" y="4191000"/>
                  </a:cubicBezTo>
                  <a:close/>
                </a:path>
              </a:pathLst>
            </a:custGeom>
            <a:gradFill rotWithShape="1">
              <a:gsLst>
                <a:gs pos="0">
                  <a:srgbClr val="9B6BF2">
                    <a:alpha val="11000"/>
                  </a:srgbClr>
                </a:gs>
                <a:gs pos="36000">
                  <a:srgbClr val="9B6BF2">
                    <a:alpha val="0"/>
                  </a:srgbClr>
                </a:gs>
                <a:gs pos="75000">
                  <a:srgbClr val="9B6BF2">
                    <a:alpha val="10000"/>
                  </a:srgbClr>
                </a:gs>
              </a:gsLst>
              <a:path path="circle">
                <a:fillToRect l="50000" t="50000" r="50000" b="50000"/>
              </a:path>
            </a:gradFill>
          </p:spPr>
        </p:sp>
      </p:grpSp>
      <p:grpSp>
        <p:nvGrpSpPr>
          <p:cNvPr id="6" name="Group 6"/>
          <p:cNvGrpSpPr/>
          <p:nvPr/>
        </p:nvGrpSpPr>
        <p:grpSpPr>
          <a:xfrm>
            <a:off x="0" y="4343400"/>
            <a:ext cx="3543300" cy="3543300"/>
            <a:chOff x="0" y="0"/>
            <a:chExt cx="4724400" cy="4724400"/>
          </a:xfrm>
        </p:grpSpPr>
        <p:sp>
          <p:nvSpPr>
            <p:cNvPr id="7" name="Freeform 7"/>
            <p:cNvSpPr/>
            <p:nvPr/>
          </p:nvSpPr>
          <p:spPr>
            <a:xfrm>
              <a:off x="0" y="0"/>
              <a:ext cx="4724400" cy="4724400"/>
            </a:xfrm>
            <a:custGeom>
              <a:avLst/>
              <a:gdLst/>
              <a:ahLst/>
              <a:cxnLst/>
              <a:rect l="l" t="t" r="r" b="b"/>
              <a:pathLst>
                <a:path w="4724400" h="4724400">
                  <a:moveTo>
                    <a:pt x="0" y="2362200"/>
                  </a:moveTo>
                  <a:cubicBezTo>
                    <a:pt x="0" y="1057656"/>
                    <a:pt x="1057656" y="0"/>
                    <a:pt x="2362200" y="0"/>
                  </a:cubicBezTo>
                  <a:cubicBezTo>
                    <a:pt x="3666744" y="0"/>
                    <a:pt x="4724400" y="1057656"/>
                    <a:pt x="4724400" y="2362200"/>
                  </a:cubicBezTo>
                  <a:cubicBezTo>
                    <a:pt x="4724400" y="3666744"/>
                    <a:pt x="3666744" y="4724400"/>
                    <a:pt x="2362200" y="4724400"/>
                  </a:cubicBezTo>
                  <a:cubicBezTo>
                    <a:pt x="1057656" y="4724400"/>
                    <a:pt x="0" y="3666744"/>
                    <a:pt x="0" y="2362200"/>
                  </a:cubicBezTo>
                  <a:close/>
                </a:path>
              </a:pathLst>
            </a:custGeom>
            <a:gradFill rotWithShape="1">
              <a:gsLst>
                <a:gs pos="0">
                  <a:srgbClr val="9B6BF2">
                    <a:alpha val="8000"/>
                  </a:srgbClr>
                </a:gs>
                <a:gs pos="36000">
                  <a:srgbClr val="9B6BF2">
                    <a:alpha val="0"/>
                  </a:srgbClr>
                </a:gs>
                <a:gs pos="72000">
                  <a:srgbClr val="9B6BF2">
                    <a:alpha val="8000"/>
                  </a:srgbClr>
                </a:gs>
              </a:gsLst>
              <a:path path="circle">
                <a:fillToRect l="50000" t="50000" r="50000" b="50000"/>
              </a:path>
            </a:gradFill>
          </p:spPr>
        </p:sp>
      </p:grpSp>
      <p:grpSp>
        <p:nvGrpSpPr>
          <p:cNvPr id="8" name="Group 8"/>
          <p:cNvGrpSpPr/>
          <p:nvPr/>
        </p:nvGrpSpPr>
        <p:grpSpPr>
          <a:xfrm>
            <a:off x="12913519" y="8801100"/>
            <a:ext cx="1485900" cy="1485900"/>
            <a:chOff x="0" y="0"/>
            <a:chExt cx="1981200" cy="1981200"/>
          </a:xfrm>
        </p:grpSpPr>
        <p:sp>
          <p:nvSpPr>
            <p:cNvPr id="9" name="Freeform 9"/>
            <p:cNvSpPr/>
            <p:nvPr/>
          </p:nvSpPr>
          <p:spPr>
            <a:xfrm>
              <a:off x="0" y="0"/>
              <a:ext cx="1981200" cy="1981200"/>
            </a:xfrm>
            <a:custGeom>
              <a:avLst/>
              <a:gdLst/>
              <a:ahLst/>
              <a:cxnLst/>
              <a:rect l="l" t="t" r="r" b="b"/>
              <a:pathLst>
                <a:path w="1981200" h="1981200">
                  <a:moveTo>
                    <a:pt x="0" y="990600"/>
                  </a:moveTo>
                  <a:cubicBezTo>
                    <a:pt x="0" y="443484"/>
                    <a:pt x="443484" y="0"/>
                    <a:pt x="990600" y="0"/>
                  </a:cubicBezTo>
                  <a:cubicBezTo>
                    <a:pt x="1537716" y="0"/>
                    <a:pt x="1981200" y="443484"/>
                    <a:pt x="1981200" y="990600"/>
                  </a:cubicBezTo>
                  <a:cubicBezTo>
                    <a:pt x="1981200" y="1537716"/>
                    <a:pt x="1537716" y="1981200"/>
                    <a:pt x="990600" y="1981200"/>
                  </a:cubicBezTo>
                  <a:cubicBezTo>
                    <a:pt x="443484" y="1981200"/>
                    <a:pt x="0" y="1537716"/>
                    <a:pt x="0" y="990600"/>
                  </a:cubicBezTo>
                  <a:close/>
                </a:path>
              </a:pathLst>
            </a:custGeom>
            <a:gradFill rotWithShape="1">
              <a:gsLst>
                <a:gs pos="0">
                  <a:srgbClr val="9B6BF2">
                    <a:alpha val="14000"/>
                  </a:srgbClr>
                </a:gs>
                <a:gs pos="36000">
                  <a:srgbClr val="9B6BF2">
                    <a:alpha val="0"/>
                  </a:srgbClr>
                </a:gs>
                <a:gs pos="66000">
                  <a:srgbClr val="9B6BF2">
                    <a:alpha val="7000"/>
                  </a:srgbClr>
                </a:gs>
              </a:gsLst>
              <a:path path="circle">
                <a:fillToRect l="50000" t="50000" r="50000" b="50000"/>
              </a:path>
            </a:gradFill>
          </p:spPr>
        </p:sp>
      </p:grpSp>
      <p:grpSp>
        <p:nvGrpSpPr>
          <p:cNvPr id="10" name="Group 10"/>
          <p:cNvGrpSpPr/>
          <p:nvPr/>
        </p:nvGrpSpPr>
        <p:grpSpPr>
          <a:xfrm>
            <a:off x="12913519" y="2514600"/>
            <a:ext cx="4229100" cy="4229100"/>
            <a:chOff x="0" y="0"/>
            <a:chExt cx="5638800" cy="5638800"/>
          </a:xfrm>
        </p:grpSpPr>
        <p:sp>
          <p:nvSpPr>
            <p:cNvPr id="11" name="Freeform 11"/>
            <p:cNvSpPr/>
            <p:nvPr/>
          </p:nvSpPr>
          <p:spPr>
            <a:xfrm>
              <a:off x="0" y="0"/>
              <a:ext cx="5638800" cy="5638800"/>
            </a:xfrm>
            <a:custGeom>
              <a:avLst/>
              <a:gdLst/>
              <a:ahLst/>
              <a:cxnLst/>
              <a:rect l="l" t="t" r="r" b="b"/>
              <a:pathLst>
                <a:path w="5638800" h="5638800">
                  <a:moveTo>
                    <a:pt x="0" y="2819400"/>
                  </a:moveTo>
                  <a:cubicBezTo>
                    <a:pt x="0" y="1262253"/>
                    <a:pt x="1262253" y="0"/>
                    <a:pt x="2819400" y="0"/>
                  </a:cubicBezTo>
                  <a:cubicBezTo>
                    <a:pt x="4376547" y="0"/>
                    <a:pt x="5638800" y="1262253"/>
                    <a:pt x="5638800" y="2819400"/>
                  </a:cubicBezTo>
                  <a:cubicBezTo>
                    <a:pt x="5638800" y="4376547"/>
                    <a:pt x="4376547" y="5638800"/>
                    <a:pt x="2819400" y="5638800"/>
                  </a:cubicBezTo>
                  <a:cubicBezTo>
                    <a:pt x="1262253" y="5638800"/>
                    <a:pt x="0" y="4376547"/>
                    <a:pt x="0" y="2819400"/>
                  </a:cubicBezTo>
                  <a:close/>
                </a:path>
              </a:pathLst>
            </a:custGeom>
            <a:gradFill rotWithShape="1">
              <a:gsLst>
                <a:gs pos="0">
                  <a:srgbClr val="9B6BF2">
                    <a:alpha val="7000"/>
                  </a:srgbClr>
                </a:gs>
                <a:gs pos="36000">
                  <a:srgbClr val="9B6BF2">
                    <a:alpha val="0"/>
                  </a:srgbClr>
                </a:gs>
                <a:gs pos="69000">
                  <a:srgbClr val="9B6BF2">
                    <a:alpha val="6000"/>
                  </a:srgbClr>
                </a:gs>
              </a:gsLst>
              <a:path path="circle">
                <a:fillToRect l="50000" t="50000" r="50000" b="50000"/>
              </a:path>
            </a:gradFill>
          </p:spPr>
        </p:sp>
      </p:grpSp>
      <p:grpSp>
        <p:nvGrpSpPr>
          <p:cNvPr id="12" name="Group 12"/>
          <p:cNvGrpSpPr/>
          <p:nvPr/>
        </p:nvGrpSpPr>
        <p:grpSpPr>
          <a:xfrm>
            <a:off x="11999119" y="12697"/>
            <a:ext cx="2400300" cy="2400300"/>
            <a:chOff x="0" y="0"/>
            <a:chExt cx="3200400" cy="3200400"/>
          </a:xfrm>
        </p:grpSpPr>
        <p:sp>
          <p:nvSpPr>
            <p:cNvPr id="13" name="Freeform 13"/>
            <p:cNvSpPr/>
            <p:nvPr/>
          </p:nvSpPr>
          <p:spPr>
            <a:xfrm>
              <a:off x="0" y="0"/>
              <a:ext cx="3200400" cy="3200400"/>
            </a:xfrm>
            <a:custGeom>
              <a:avLst/>
              <a:gdLst/>
              <a:ahLst/>
              <a:cxnLst/>
              <a:rect l="l" t="t" r="r" b="b"/>
              <a:pathLst>
                <a:path w="3200400" h="3200400">
                  <a:moveTo>
                    <a:pt x="0" y="1600200"/>
                  </a:moveTo>
                  <a:cubicBezTo>
                    <a:pt x="0" y="716407"/>
                    <a:pt x="716407" y="0"/>
                    <a:pt x="1600200" y="0"/>
                  </a:cubicBezTo>
                  <a:cubicBezTo>
                    <a:pt x="2483993" y="0"/>
                    <a:pt x="3200400" y="716407"/>
                    <a:pt x="3200400" y="1600200"/>
                  </a:cubicBezTo>
                  <a:cubicBezTo>
                    <a:pt x="3200400" y="2483993"/>
                    <a:pt x="2483993" y="3200400"/>
                    <a:pt x="1600200" y="3200400"/>
                  </a:cubicBezTo>
                  <a:cubicBezTo>
                    <a:pt x="716407" y="3200400"/>
                    <a:pt x="0" y="2483993"/>
                    <a:pt x="0" y="1600200"/>
                  </a:cubicBezTo>
                  <a:close/>
                </a:path>
              </a:pathLst>
            </a:custGeom>
            <a:gradFill rotWithShape="1">
              <a:gsLst>
                <a:gs pos="0">
                  <a:srgbClr val="9B6BF2">
                    <a:alpha val="14000"/>
                  </a:srgbClr>
                </a:gs>
                <a:gs pos="36000">
                  <a:srgbClr val="9B6BF2">
                    <a:alpha val="0"/>
                  </a:srgbClr>
                </a:gs>
                <a:gs pos="73000">
                  <a:srgbClr val="9B6BF2">
                    <a:alpha val="7000"/>
                  </a:srgbClr>
                </a:gs>
              </a:gsLst>
              <a:path path="circle">
                <a:fillToRect l="50000" t="50000" r="50000" b="50000"/>
              </a:path>
            </a:gradFill>
          </p:spPr>
        </p:sp>
      </p:grpSp>
      <p:sp>
        <p:nvSpPr>
          <p:cNvPr id="14" name="Freeform 14"/>
          <p:cNvSpPr/>
          <p:nvPr/>
        </p:nvSpPr>
        <p:spPr>
          <a:xfrm>
            <a:off x="12716304" y="2278570"/>
            <a:ext cx="4989357" cy="1496797"/>
          </a:xfrm>
          <a:custGeom>
            <a:avLst/>
            <a:gdLst/>
            <a:ahLst/>
            <a:cxnLst/>
            <a:rect l="l" t="t" r="r" b="b"/>
            <a:pathLst>
              <a:path w="4989357" h="1496797">
                <a:moveTo>
                  <a:pt x="0" y="0"/>
                </a:moveTo>
                <a:lnTo>
                  <a:pt x="4989357" y="0"/>
                </a:lnTo>
                <a:lnTo>
                  <a:pt x="4989357" y="1496797"/>
                </a:lnTo>
                <a:lnTo>
                  <a:pt x="0" y="149679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689258" y="2799607"/>
            <a:ext cx="16916400" cy="6800850"/>
          </a:xfrm>
          <a:custGeom>
            <a:avLst/>
            <a:gdLst/>
            <a:ahLst/>
            <a:cxnLst/>
            <a:rect l="l" t="t" r="r" b="b"/>
            <a:pathLst>
              <a:path w="16916400" h="6800850">
                <a:moveTo>
                  <a:pt x="0" y="0"/>
                </a:moveTo>
                <a:lnTo>
                  <a:pt x="16916400" y="0"/>
                </a:lnTo>
                <a:lnTo>
                  <a:pt x="16916400" y="6800850"/>
                </a:lnTo>
                <a:lnTo>
                  <a:pt x="0" y="680085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16" name="Group 16"/>
          <p:cNvGrpSpPr/>
          <p:nvPr/>
        </p:nvGrpSpPr>
        <p:grpSpPr>
          <a:xfrm>
            <a:off x="0" y="2381"/>
            <a:ext cx="18288000" cy="10284619"/>
            <a:chOff x="0" y="0"/>
            <a:chExt cx="24384000" cy="13712825"/>
          </a:xfrm>
        </p:grpSpPr>
        <p:sp>
          <p:nvSpPr>
            <p:cNvPr id="17" name="Freeform 17"/>
            <p:cNvSpPr/>
            <p:nvPr/>
          </p:nvSpPr>
          <p:spPr>
            <a:xfrm>
              <a:off x="0" y="0"/>
              <a:ext cx="24384000" cy="13712825"/>
            </a:xfrm>
            <a:custGeom>
              <a:avLst/>
              <a:gdLst/>
              <a:ahLst/>
              <a:cxnLst/>
              <a:rect l="l" t="t" r="r" b="b"/>
              <a:pathLst>
                <a:path w="24384000" h="13712825">
                  <a:moveTo>
                    <a:pt x="0" y="0"/>
                  </a:moveTo>
                  <a:lnTo>
                    <a:pt x="0" y="13712825"/>
                  </a:lnTo>
                  <a:lnTo>
                    <a:pt x="24384000" y="13712825"/>
                  </a:lnTo>
                  <a:lnTo>
                    <a:pt x="24384000" y="0"/>
                  </a:lnTo>
                  <a:lnTo>
                    <a:pt x="0" y="0"/>
                  </a:lnTo>
                  <a:close/>
                  <a:moveTo>
                    <a:pt x="23418546" y="12760325"/>
                  </a:moveTo>
                  <a:lnTo>
                    <a:pt x="952754" y="12760325"/>
                  </a:lnTo>
                  <a:lnTo>
                    <a:pt x="952754" y="939800"/>
                  </a:lnTo>
                  <a:lnTo>
                    <a:pt x="23418546" y="939800"/>
                  </a:lnTo>
                  <a:lnTo>
                    <a:pt x="23418546" y="12760325"/>
                  </a:lnTo>
                  <a:close/>
                </a:path>
              </a:pathLst>
            </a:custGeom>
            <a:solidFill>
              <a:srgbClr val="FFFFFF"/>
            </a:solidFill>
          </p:spPr>
        </p:sp>
      </p:grpSp>
      <p:grpSp>
        <p:nvGrpSpPr>
          <p:cNvPr id="18" name="Group 18"/>
          <p:cNvGrpSpPr/>
          <p:nvPr/>
        </p:nvGrpSpPr>
        <p:grpSpPr>
          <a:xfrm>
            <a:off x="15656719" y="0"/>
            <a:ext cx="1028700" cy="1714500"/>
            <a:chOff x="0" y="0"/>
            <a:chExt cx="1371600" cy="2286000"/>
          </a:xfrm>
        </p:grpSpPr>
        <p:sp>
          <p:nvSpPr>
            <p:cNvPr id="19" name="Freeform 19"/>
            <p:cNvSpPr/>
            <p:nvPr/>
          </p:nvSpPr>
          <p:spPr>
            <a:xfrm>
              <a:off x="0" y="0"/>
              <a:ext cx="1371600" cy="2286000"/>
            </a:xfrm>
            <a:custGeom>
              <a:avLst/>
              <a:gdLst/>
              <a:ahLst/>
              <a:cxnLst/>
              <a:rect l="l" t="t" r="r" b="b"/>
              <a:pathLst>
                <a:path w="1371600" h="2286000">
                  <a:moveTo>
                    <a:pt x="0" y="0"/>
                  </a:moveTo>
                  <a:lnTo>
                    <a:pt x="1371600" y="0"/>
                  </a:lnTo>
                  <a:lnTo>
                    <a:pt x="1371600" y="2286000"/>
                  </a:lnTo>
                  <a:lnTo>
                    <a:pt x="0" y="2286000"/>
                  </a:lnTo>
                  <a:close/>
                </a:path>
              </a:pathLst>
            </a:custGeom>
            <a:solidFill>
              <a:srgbClr val="B31166"/>
            </a:solidFill>
          </p:spPr>
        </p:sp>
      </p:grpSp>
      <p:grpSp>
        <p:nvGrpSpPr>
          <p:cNvPr id="20" name="Group 20"/>
          <p:cNvGrpSpPr/>
          <p:nvPr/>
        </p:nvGrpSpPr>
        <p:grpSpPr>
          <a:xfrm>
            <a:off x="7342089" y="3792074"/>
            <a:ext cx="9170899" cy="3489138"/>
            <a:chOff x="0" y="0"/>
            <a:chExt cx="12227865" cy="4652184"/>
          </a:xfrm>
        </p:grpSpPr>
        <p:sp>
          <p:nvSpPr>
            <p:cNvPr id="21" name="Freeform 21"/>
            <p:cNvSpPr/>
            <p:nvPr/>
          </p:nvSpPr>
          <p:spPr>
            <a:xfrm>
              <a:off x="0" y="0"/>
              <a:ext cx="12227860" cy="4652180"/>
            </a:xfrm>
            <a:custGeom>
              <a:avLst/>
              <a:gdLst/>
              <a:ahLst/>
              <a:cxnLst/>
              <a:rect l="l" t="t" r="r" b="b"/>
              <a:pathLst>
                <a:path w="12227860" h="4652180">
                  <a:moveTo>
                    <a:pt x="0" y="0"/>
                  </a:moveTo>
                  <a:lnTo>
                    <a:pt x="12227860" y="0"/>
                  </a:lnTo>
                  <a:lnTo>
                    <a:pt x="12227860" y="4652180"/>
                  </a:lnTo>
                  <a:lnTo>
                    <a:pt x="0" y="4652180"/>
                  </a:lnTo>
                  <a:close/>
                </a:path>
              </a:pathLst>
            </a:custGeom>
            <a:blipFill>
              <a:blip r:embed="rId7">
                <a:alphaModFix amt="0"/>
              </a:blip>
              <a:stretch>
                <a:fillRect t="-1214" b="-1214"/>
              </a:stretch>
            </a:blipFill>
          </p:spPr>
        </p:sp>
        <p:sp>
          <p:nvSpPr>
            <p:cNvPr id="22" name="TextBox 22"/>
            <p:cNvSpPr txBox="1"/>
            <p:nvPr/>
          </p:nvSpPr>
          <p:spPr>
            <a:xfrm>
              <a:off x="0" y="0"/>
              <a:ext cx="12227865" cy="4652184"/>
            </a:xfrm>
            <a:prstGeom prst="rect">
              <a:avLst/>
            </a:prstGeom>
          </p:spPr>
          <p:txBody>
            <a:bodyPr lIns="0" tIns="0" rIns="0" bIns="0" rtlCol="0" anchor="ctr"/>
            <a:lstStyle/>
            <a:p>
              <a:pPr algn="l">
                <a:lnSpc>
                  <a:spcPts val="6480"/>
                </a:lnSpc>
              </a:pPr>
              <a:endParaRPr/>
            </a:p>
            <a:p>
              <a:pPr algn="l">
                <a:lnSpc>
                  <a:spcPts val="6480"/>
                </a:lnSpc>
              </a:pPr>
              <a:r>
                <a:rPr lang="en-US" sz="5400" b="1" u="sng" dirty="0">
                  <a:solidFill>
                    <a:srgbClr val="000000"/>
                  </a:solidFill>
                  <a:latin typeface="Century Gothic Paneuropean Bold"/>
                  <a:ea typeface="Century Gothic Paneuropean Bold"/>
                  <a:cs typeface="Century Gothic Paneuropean Bold"/>
                  <a:sym typeface="Century Gothic Paneuropean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894</Words>
  <Application>Microsoft Office PowerPoint</Application>
  <PresentationFormat>Custom</PresentationFormat>
  <Paragraphs>52</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Century Gothic Paneuropean Bold</vt:lpstr>
      <vt:lpstr>Calibri</vt:lpstr>
      <vt:lpstr>Century Gothic Paneuropean</vt:lpstr>
      <vt:lpstr>Times New Roman</vt:lpstr>
      <vt:lpstr>Wingdings</vt:lpstr>
      <vt:lpstr>Canva Sans Bold</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incubation ppt.pptx</dc:title>
  <cp:lastModifiedBy>Windows User</cp:lastModifiedBy>
  <cp:revision>5</cp:revision>
  <dcterms:created xsi:type="dcterms:W3CDTF">2006-08-16T00:00:00Z</dcterms:created>
  <dcterms:modified xsi:type="dcterms:W3CDTF">2026-03-03T06:36:24Z</dcterms:modified>
  <dc:identifier>DAHC3OAIhCc</dc:identifier>
</cp:coreProperties>
</file>